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883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9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38979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21916"/>
            <a:ext cx="12191695" cy="304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0B0B0B"/>
                </a:solidFill>
                <a:latin typeface="游ゴシック"/>
              </a:rPr>
              <a:t>ヘルプデスクポータル システム構成図（インフラレビュー用）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6230"/>
            <a:ext cx="12191695" cy="18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2514E"/>
                </a:solidFill>
                <a:latin typeface="游ゴシック"/>
              </a:rPr>
              <a:t>作成日: 2026-09-07 ／ 実装状況（実装済み・一部実装・想定のみ）をステータスバッジで区別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88" y="731501"/>
            <a:ext cx="4876678" cy="137156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584" y="807699"/>
            <a:ext cx="4571885" cy="2133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0B0B"/>
                </a:solidFill>
                <a:latin typeface="游ゴシック"/>
              </a:rPr>
              <a:t>利用者（daisojapan.com ドメインの Google アカウント保有）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782" y="1066773"/>
            <a:ext cx="2057348" cy="838179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0B0B0B"/>
                </a:solidFill>
                <a:latin typeface="游ゴシック"/>
              </a:rPr>
              <a:t>日本大創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2514E"/>
                </a:solidFill>
                <a:latin typeface="游ゴシック"/>
              </a:rPr>
              <a:t>ヘルプデスク担当者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問い合わせ対応／各種管理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725" y="1066773"/>
            <a:ext cx="2209744" cy="838179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300" b="1" dirty="0" err="1">
                <a:solidFill>
                  <a:srgbClr val="0B0B0B"/>
                </a:solidFill>
                <a:latin typeface="游ゴシック"/>
              </a:rPr>
              <a:t>海外販社・代理店担当者</a:t>
            </a:r>
            <a:endParaRPr sz="1300" b="1" dirty="0">
              <a:solidFill>
                <a:srgbClr val="0B0B0B"/>
              </a:solidFill>
              <a:latin typeface="游ゴシック"/>
            </a:endParaRPr>
          </a:p>
          <a:p>
            <a:pPr algn="l">
              <a:spcAft>
                <a:spcPts val="300"/>
              </a:spcAft>
            </a:pPr>
            <a:r>
              <a:rPr sz="1000" b="0" dirty="0">
                <a:solidFill>
                  <a:srgbClr val="52514E"/>
                </a:solidFill>
                <a:latin typeface="游ゴシック"/>
              </a:rPr>
              <a:t>（20か国以上）</a:t>
            </a:r>
          </a:p>
          <a:p>
            <a:pPr algn="l">
              <a:spcAft>
                <a:spcPts val="300"/>
              </a:spcAft>
            </a:pPr>
            <a:r>
              <a:rPr sz="900" b="0" dirty="0" err="1">
                <a:solidFill>
                  <a:srgbClr val="898781"/>
                </a:solidFill>
                <a:latin typeface="游ゴシック"/>
              </a:rPr>
              <a:t>問い合わせ提出／閲覧</a:t>
            </a:r>
            <a:endParaRPr sz="900" b="0" dirty="0">
              <a:solidFill>
                <a:srgbClr val="898781"/>
              </a:solidFill>
              <a:latin typeface="游ゴシック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714457" y="1904952"/>
            <a:ext cx="0" cy="190495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14457" y="2095447"/>
            <a:ext cx="1257268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971725" y="2095447"/>
            <a:ext cx="0" cy="190495"/>
          </a:xfrm>
          <a:prstGeom prst="line">
            <a:avLst/>
          </a:prstGeom>
          <a:ln w="1778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8" idx="2"/>
          </p:cNvCxnSpPr>
          <p:nvPr/>
        </p:nvCxnSpPr>
        <p:spPr>
          <a:xfrm flipH="1">
            <a:off x="4076595" y="1904952"/>
            <a:ext cx="2" cy="380989"/>
          </a:xfrm>
          <a:prstGeom prst="line">
            <a:avLst/>
          </a:prstGeom>
          <a:ln w="1778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33546" y="1965910"/>
            <a:ext cx="685782" cy="15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2514E"/>
                </a:solidFill>
                <a:latin typeface="游ゴシック"/>
              </a:rPr>
              <a:t>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188" y="2362140"/>
            <a:ext cx="4876678" cy="274313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584" y="2438339"/>
            <a:ext cx="4571885" cy="2133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0B0B"/>
                </a:solidFill>
                <a:latin typeface="游ゴシック"/>
              </a:rPr>
              <a:t>クラウド環境（GCP / AWS 想定）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80" y="2743131"/>
            <a:ext cx="2133546" cy="7619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0B0B"/>
                </a:solidFill>
                <a:latin typeface="游ゴシック"/>
              </a:rPr>
              <a:t>Webアプリケーション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2514E"/>
                </a:solidFill>
                <a:latin typeface="游ゴシック"/>
              </a:rPr>
              <a:t>Next.js（フロント＋API一体）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［現行: Cloud Run］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80" y="3809904"/>
            <a:ext cx="2133546" cy="7619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0B0B"/>
                </a:solidFill>
                <a:latin typeface="游ゴシック"/>
              </a:rPr>
              <a:t>データベース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2514E"/>
                </a:solidFill>
                <a:latin typeface="游ゴシック"/>
              </a:rPr>
              <a:t>PostgreSQL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［現行: Cloud SQL］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319" y="3809904"/>
            <a:ext cx="1828754" cy="7619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B0B0B"/>
                </a:solidFill>
                <a:latin typeface="游ゴシック"/>
              </a:rPr>
              <a:t>定期実行ジョブ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2514E"/>
                </a:solidFill>
                <a:latin typeface="游ゴシック"/>
              </a:rPr>
              <a:t>お知らせ督促・エスカレーション通知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898781"/>
                </a:solidFill>
                <a:latin typeface="游ゴシック"/>
              </a:rPr>
              <a:t>［現行: Cloud Scheduler］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754" y="3505112"/>
            <a:ext cx="0" cy="304792"/>
          </a:xfrm>
          <a:prstGeom prst="line">
            <a:avLst/>
          </a:prstGeom>
          <a:ln w="1778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895527" y="4190895"/>
            <a:ext cx="304792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584" y="4891917"/>
            <a:ext cx="914377" cy="18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B0B0B"/>
                </a:solidFill>
                <a:latin typeface="游ゴシック"/>
              </a:rPr>
              <a:t>ステータス凡例：</a:t>
            </a:r>
          </a:p>
        </p:txBody>
      </p:sp>
      <p:sp>
        <p:nvSpPr>
          <p:cNvPr id="22" name="Oval 21"/>
          <p:cNvSpPr/>
          <p:nvPr/>
        </p:nvSpPr>
        <p:spPr>
          <a:xfrm>
            <a:off x="1722076" y="4930016"/>
            <a:ext cx="106677" cy="106677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59233" y="4907157"/>
            <a:ext cx="761980" cy="15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B0B0B"/>
                </a:solidFill>
                <a:latin typeface="游ゴシック"/>
              </a:rPr>
              <a:t>実装済み</a:t>
            </a:r>
          </a:p>
        </p:txBody>
      </p:sp>
      <p:sp>
        <p:nvSpPr>
          <p:cNvPr id="24" name="Oval 23"/>
          <p:cNvSpPr/>
          <p:nvPr/>
        </p:nvSpPr>
        <p:spPr>
          <a:xfrm>
            <a:off x="2560255" y="4930016"/>
            <a:ext cx="106677" cy="106677"/>
          </a:xfrm>
          <a:prstGeom prst="ellipse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97412" y="4907157"/>
            <a:ext cx="1142971" cy="15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B0B0B"/>
                </a:solidFill>
                <a:latin typeface="游ゴシック"/>
              </a:rPr>
              <a:t>一部実装／未接続</a:t>
            </a:r>
          </a:p>
        </p:txBody>
      </p:sp>
      <p:sp>
        <p:nvSpPr>
          <p:cNvPr id="26" name="Oval 25"/>
          <p:cNvSpPr/>
          <p:nvPr/>
        </p:nvSpPr>
        <p:spPr>
          <a:xfrm>
            <a:off x="3779425" y="4930016"/>
            <a:ext cx="106677" cy="106677"/>
          </a:xfrm>
          <a:prstGeom prst="ellipse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16582" y="4907157"/>
            <a:ext cx="1142971" cy="15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B0B0B"/>
                </a:solidFill>
                <a:latin typeface="游ゴシック"/>
              </a:rPr>
              <a:t>想定のみ・未実装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91055" y="731501"/>
            <a:ext cx="5943451" cy="624824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6510">
            <a:solidFill>
              <a:srgbClr val="89878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451" y="807699"/>
            <a:ext cx="5638659" cy="2133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B0B0B"/>
                </a:solidFill>
                <a:latin typeface="游ゴシック"/>
              </a:rPr>
              <a:t>外部サービス連携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5847" y="1142971"/>
            <a:ext cx="5333866" cy="1142971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0B0B"/>
                </a:solidFill>
                <a:latin typeface="游ゴシック"/>
              </a:rPr>
              <a:t>① Google Workspace SSO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2514E"/>
                </a:solidFill>
                <a:latin typeface="游ゴシック"/>
              </a:rPr>
              <a:t>daisojapan.com ドメイン限定の Google 認証／用途: 利用者認証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現状: 未実装。メール＋パスワードのCredentials認証（DB内bcryptハッシュ）で代替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将来的にドメイン限定のGoogle OAuthへ切替想定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67733" y="1249648"/>
            <a:ext cx="655303" cy="198115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游ゴシック"/>
              </a:rPr>
              <a:t>想定のみ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7" y="2438339"/>
            <a:ext cx="5333866" cy="1142971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0B0B"/>
                </a:solidFill>
                <a:latin typeface="游ゴシック"/>
              </a:rPr>
              <a:t>② メール配信サービス（SMTP）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2514E"/>
                </a:solidFill>
                <a:latin typeface="游ゴシック"/>
              </a:rPr>
              <a:t>用途: お知らせの緊急通知・督促メール送信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現状: nodemailerによるSMTP送信コードは実装済み。本番環境のSMTP接続情報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（ホスト・認証情報等）は未設定のため現状は無効（送信スキップ）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62940" y="2545016"/>
            <a:ext cx="960095" cy="198115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B0B"/>
                </a:solidFill>
                <a:latin typeface="游ゴシック"/>
              </a:rPr>
              <a:t>一部実装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5847" y="3733706"/>
            <a:ext cx="5333866" cy="1295367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0B0B"/>
                </a:solidFill>
                <a:latin typeface="游ゴシック"/>
              </a:rPr>
              <a:t>③ Google Drive／Docs／Sheets／Slides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2514E"/>
                </a:solidFill>
                <a:latin typeface="游ゴシック"/>
              </a:rPr>
              <a:t>用途: ヘルプデスク登録資料の共有リンクを申請者側で埋め込み表示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現状: 公開共有リンクURLを&lt;iframe&gt;でそのまま埋め込むのみ。Drive APIによる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認可連携・一覧取得は未使用。利用者単位のアクセス出し分けは現在検討中</a:t>
            </a:r>
          </a:p>
          <a:p>
            <a:pPr algn="l">
              <a:spcAft>
                <a:spcPts val="300"/>
              </a:spcAft>
            </a:pPr>
            <a:r>
              <a:rPr sz="900" b="1">
                <a:solidFill>
                  <a:srgbClr val="52514E"/>
                </a:solidFill>
                <a:latin typeface="游ゴシック"/>
              </a:rPr>
              <a:t>※ 外部共有サービス「CmosyPocket」への置き換えも検討中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62940" y="3840383"/>
            <a:ext cx="960095" cy="198115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0B0B0B"/>
                </a:solidFill>
                <a:latin typeface="游ゴシック"/>
              </a:rPr>
              <a:t>一部実装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7" y="5181470"/>
            <a:ext cx="5333866" cy="1142971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0B0B"/>
                </a:solidFill>
                <a:latin typeface="游ゴシック"/>
              </a:rPr>
              <a:t>④ Google Cloud Translation API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2514E"/>
                </a:solidFill>
                <a:latin typeface="游ゴシック"/>
              </a:rPr>
              <a:t>用途: 問い合わせ・申請フォーム自由記述欄の多言語翻訳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現状: 未実装。開発フェーズ3以降で対応予定。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データモデル上は翻訳結果を保持するフィールドのみ用意済み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67733" y="5288147"/>
            <a:ext cx="655303" cy="198115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游ゴシック"/>
              </a:rPr>
              <a:t>想定のみ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895527" y="2834569"/>
            <a:ext cx="2476438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371965" y="1714457"/>
            <a:ext cx="0" cy="1120112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371965" y="1714457"/>
            <a:ext cx="723882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895527" y="2986965"/>
            <a:ext cx="2590735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486262" y="2986965"/>
            <a:ext cx="0" cy="137156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486262" y="3124121"/>
            <a:ext cx="609585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95527" y="3139361"/>
            <a:ext cx="2705032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600559" y="3139361"/>
            <a:ext cx="0" cy="1242029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00559" y="4381390"/>
            <a:ext cx="495288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95527" y="3291757"/>
            <a:ext cx="2819330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714857" y="3291757"/>
            <a:ext cx="0" cy="2461199"/>
          </a:xfrm>
          <a:prstGeom prst="line">
            <a:avLst/>
          </a:prstGeom>
          <a:ln w="17780">
            <a:solidFill>
              <a:srgbClr val="52514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714857" y="5752956"/>
            <a:ext cx="380990" cy="0"/>
          </a:xfrm>
          <a:prstGeom prst="line">
            <a:avLst/>
          </a:prstGeom>
          <a:ln w="1778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57188" y="7162620"/>
            <a:ext cx="11277318" cy="1600159"/>
          </a:xfrm>
          <a:prstGeom prst="roundRect">
            <a:avLst>
              <a:gd name="adj" fmla="val 3000"/>
            </a:avLst>
          </a:prstGeom>
          <a:solidFill>
            <a:srgbClr val="FCFCFB"/>
          </a:solidFill>
          <a:ln w="1651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396" tIns="106677" rIns="152396" bIns="76198" rtlCol="0" anchor="t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B0B0B"/>
                </a:solidFill>
                <a:latin typeface="游ゴシック"/>
              </a:rPr>
              <a:t>インフラチームへの確認事項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B0B0B"/>
                </a:solidFill>
                <a:latin typeface="游ゴシック"/>
              </a:rPr>
              <a:t>・Google Workspace SSO導入時、ドメイン制限（daisojapan.comのみ許可）をIdP側／アプリ側どちらで担保するか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B0B0B"/>
                </a:solidFill>
                <a:latin typeface="游ゴシック"/>
              </a:rPr>
              <a:t>・SMTP送信先を外部メール配信サービスにするか社内SMTPリレー経由にするか、送信元ドメインのSPF／DKIM設定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B0B0B"/>
                </a:solidFill>
                <a:latin typeface="游ゴシック"/>
              </a:rPr>
              <a:t>・Google Driveの共有リンクをユーザー単位で出し分ける場合、Drive API連携（OAuth委任・サービスアカウント等）への切替要否。CmosyPocket採用案との比較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B0B0B"/>
                </a:solidFill>
                <a:latin typeface="游ゴシック"/>
              </a:rPr>
              <a:t>・Cloud Run（allUsersにinvoker権限を付与し一般公開）＋Cloud SQL（組み込みAuth Proxy経由）構成のまま本番化してよいか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B0B0B"/>
                </a:solidFill>
                <a:latin typeface="游ゴシック"/>
              </a:rPr>
              <a:t>・Translation API導入時の送信データ（自由記述欄の内容）の越境処理・データ保持ポリシー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898781"/>
                </a:solidFill>
                <a:latin typeface="游ゴシック"/>
              </a:rPr>
              <a:t>詳細な補足・状態一覧は同ディレクトリの system-architecture.md を参照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301</Words>
  <Application>Microsoft Office PowerPoint</Application>
  <PresentationFormat>ユーザー設定</PresentationFormat>
  <Paragraphs>53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末永 唯人</cp:lastModifiedBy>
  <cp:revision>2</cp:revision>
  <dcterms:created xsi:type="dcterms:W3CDTF">2013-01-27T09:14:16Z</dcterms:created>
  <dcterms:modified xsi:type="dcterms:W3CDTF">2026-09-07T04:29:28Z</dcterms:modified>
  <cp:category/>
</cp:coreProperties>
</file>